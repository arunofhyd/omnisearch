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Arial"/>
              </a:defRPr>
            </a:pPr>
            <a:r>
              <a:t>Omni Search</a:t>
            </a:r>
          </a:p>
          <a:p>
            <a:pPr algn="l">
              <a:defRPr sz="2800">
                <a:solidFill>
                  <a:srgbClr val="2997FF"/>
                </a:solidFill>
                <a:latin typeface="Arial"/>
              </a:defRPr>
            </a:pPr>
            <a:r>
              <a:t>Search at the speed of thought.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566928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6868B"/>
                </a:solidFill>
                <a:latin typeface="Arial"/>
              </a:defRPr>
            </a:pPr>
            <a:r>
              <a:t>Presented by Arun Thomas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01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daily struggle is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rIns="274320" wrap="square"/>
          <a:lstStyle/>
          <a:p>
            <a:pPr algn="ctr">
              <a:spcAft>
                <a:spcPts val="1400"/>
              </a:spcAft>
              <a:defRPr sz="2000" b="1">
                <a:solidFill>
                  <a:srgbClr val="FFFFFF"/>
                </a:solidFill>
              </a:defRPr>
            </a:pPr>
            <a:r>
              <a:t>Context-Switching Tax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Every search requires leaving the current app, opening a browser, navigating to the right tool, typing the query, and switching back. Analysts lose 5–15 minutes per day to this invisible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383280" cy="411480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rIns="274320" wrap="square"/>
          <a:lstStyle/>
          <a:p>
            <a:pPr algn="ctr">
              <a:spcAft>
                <a:spcPts val="1400"/>
              </a:spcAft>
              <a:defRPr sz="2000" b="1">
                <a:solidFill>
                  <a:srgbClr val="FFFFFF"/>
                </a:solidFill>
              </a:defRPr>
            </a:pPr>
            <a:r>
              <a:t>Tab Overload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No standardized search workflow. Each analyst uses different tools and methods, leading to browser clutter, lost tabs, and fragmented knowledge across dozens of open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828800"/>
            <a:ext cx="3383280" cy="411480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rIns="274320" wrap="square"/>
          <a:lstStyle/>
          <a:p>
            <a:pPr algn="ctr">
              <a:spcAft>
                <a:spcPts val="1400"/>
              </a:spcAft>
              <a:defRPr sz="2000" b="1">
                <a:solidFill>
                  <a:srgbClr val="FFFFFF"/>
                </a:solidFill>
              </a:defRPr>
            </a:pPr>
            <a:r>
              <a:t>Accessibility Gap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Specially-abled and blind analysts face an amplified burden — multi-step, mouse-dependent search workflows are a barrier. A keyboard-first, VoiceOver-compatible solution is essential.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02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Native, Zero-Friction &amp; Accessible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>
                <a:solidFill>
                  <a:srgbClr val="FFFFFF"/>
                </a:solidFill>
              </a:defRPr>
            </a:pPr>
            <a:r>
              <a:t>Build a native, zero-friction search utility that routes any selected text to the right tool — instantly — from any app, on any desktop, for every analyst.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3200400" cy="1645920"/>
          </a:xfrm>
          <a:prstGeom prst="roundRect">
            <a:avLst/>
          </a:prstGeom>
          <a:solidFill>
            <a:srgbClr val="111111"/>
          </a:solidFill>
          <a:ln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997FF"/>
                </a:solidFill>
              </a:defRPr>
            </a:pPr>
            <a:r>
              <a:t>Zero Friction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14800"/>
            <a:ext cx="3200400" cy="1645920"/>
          </a:xfrm>
          <a:prstGeom prst="roundRect">
            <a:avLst/>
          </a:prstGeom>
          <a:solidFill>
            <a:srgbClr val="111111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0D158"/>
                </a:solidFill>
              </a:defRPr>
            </a:pPr>
            <a:r>
              <a:t>Fully Accessible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114800"/>
            <a:ext cx="3200400" cy="1645920"/>
          </a:xfrm>
          <a:prstGeom prst="roundRect">
            <a:avLst/>
          </a:prstGeom>
          <a:solidFill>
            <a:srgbClr val="111111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BF5AF2"/>
                </a:solidFill>
              </a:defRPr>
            </a:pPr>
            <a:r>
              <a:t>Intelligent Routing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03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Omni Search. Absolute focus.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86868B"/>
                </a:solidFill>
              </a:defRPr>
            </a:pPr>
            <a:r>
              <a:t>A native macOS shortcut utility that routes queries directly to your favorite tools, cleans search URLs automatically, and reuses open browser windows without distracting tab clutter.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47472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2997FF"/>
                </a:solidFill>
              </a:defRPr>
            </a:pPr>
            <a:r>
              <a:t>Lightning Fast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Reuses active windows instantly via precise window targeting.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560320"/>
            <a:ext cx="3383280" cy="347472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2997FF"/>
                </a:solidFill>
              </a:defRPr>
            </a:pPr>
            <a:r>
              <a:t>Smart Link Sanitizer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Cleans and formats search URLs so they open smoothly in enterprise tools without security block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560320"/>
            <a:ext cx="3383280" cy="347472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2997FF"/>
                </a:solidFill>
              </a:defRPr>
            </a:pPr>
            <a:r>
              <a:t>Instant Focus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Pulls search results to the absolute front across all virtual desktops.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03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How does it work?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3600" b="1">
                <a:solidFill>
                  <a:srgbClr val="2997FF"/>
                </a:solidFill>
              </a:defRPr>
            </a:pPr>
            <a:r>
              <a:t>1</a:t>
            </a:r>
          </a:p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Highlight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Select any text, in any app, anywhere on your screen.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3600" b="1">
                <a:solidFill>
                  <a:srgbClr val="BF5AF2"/>
                </a:solidFill>
              </a:defRPr>
            </a:pPr>
            <a:r>
              <a:t>2</a:t>
            </a:r>
          </a:p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Trigger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Execute via global keyboard hotkey or right-click mouse.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1000"/>
              </a:spcAft>
              <a:defRPr sz="3600" b="1">
                <a:solidFill>
                  <a:srgbClr val="30D158"/>
                </a:solidFill>
              </a:defRPr>
            </a:pPr>
            <a:r>
              <a:t>3</a:t>
            </a:r>
          </a:p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>
              <a:defRPr sz="1400">
                <a:solidFill>
                  <a:srgbClr val="86868B"/>
                </a:solidFill>
              </a:defRPr>
            </a:pPr>
            <a:r>
              <a:t>Route the relevant search target to get your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03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Customization &amp; Global Locales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97FF"/>
                </a:solidFill>
              </a:defRPr>
            </a:pPr>
            <a:r>
              <a:t>•  Locale &amp; Region Friendly</a:t>
            </a:r>
          </a:p>
          <a:p>
            <a:pPr>
              <a:spcAft>
                <a:spcPts val="1800"/>
              </a:spcAft>
              <a:defRPr sz="1500">
                <a:solidFill>
                  <a:srgbClr val="86868B"/>
                </a:solidFill>
              </a:defRPr>
            </a:pPr>
            <a:r>
              <a:t>    Search engines and tools support any locale seamlessly: en_IN, en_US, en_GB, en_SA, + any region.</a:t>
            </a:r>
          </a:p>
          <a:p>
            <a:pPr>
              <a:defRPr sz="2000" b="1">
                <a:solidFill>
                  <a:srgbClr val="2997FF"/>
                </a:solidFill>
              </a:defRPr>
            </a:pPr>
            <a:r>
              <a:t>•  Tailored Workflows</a:t>
            </a:r>
          </a:p>
          <a:p>
            <a:pPr>
              <a:spcAft>
                <a:spcPts val="1800"/>
              </a:spcAft>
              <a:defRPr sz="1500">
                <a:solidFill>
                  <a:srgbClr val="86868B"/>
                </a:solidFill>
              </a:defRPr>
            </a:pPr>
            <a:r>
              <a:t>    Customize menu options for Apple Music, Marketing Media Tools, Google Search, and internal databases.</a:t>
            </a:r>
          </a:p>
          <a:p>
            <a:pPr>
              <a:defRPr sz="2000" b="1">
                <a:solidFill>
                  <a:srgbClr val="2997FF"/>
                </a:solidFill>
              </a:defRPr>
            </a:pPr>
            <a:r>
              <a:t>•  Centralized Hub</a:t>
            </a:r>
          </a:p>
          <a:p>
            <a:pPr>
              <a:spcAft>
                <a:spcPts val="1800"/>
              </a:spcAft>
              <a:defRPr sz="1500">
                <a:solidFill>
                  <a:srgbClr val="86868B"/>
                </a:solidFill>
              </a:defRPr>
            </a:pPr>
            <a:r>
              <a:t>    Consolidate scattered bookmarks and enterprise tools into one quick menu.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04 TIME SAVED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numbers speak.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457200" wrap="square"/>
          <a:lstStyle/>
          <a:p>
            <a:pPr algn="ctr">
              <a:spcAft>
                <a:spcPts val="1400"/>
              </a:spcAft>
              <a:defRPr sz="2800" b="1">
                <a:solidFill>
                  <a:srgbClr val="30D158"/>
                </a:solidFill>
              </a:defRPr>
            </a:pPr>
            <a:r>
              <a:t>8.5 Hours</a:t>
            </a:r>
          </a:p>
          <a:p>
            <a:pPr>
              <a:defRPr sz="1500">
                <a:solidFill>
                  <a:srgbClr val="86868B"/>
                </a:solidFill>
              </a:defRPr>
            </a:pPr>
            <a:r>
              <a:t>Saved per analyst / month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457200" wrap="square"/>
          <a:lstStyle/>
          <a:p>
            <a:pPr algn="ctr">
              <a:spcAft>
                <a:spcPts val="1400"/>
              </a:spcAft>
              <a:defRPr sz="2800" b="1">
                <a:solidFill>
                  <a:srgbClr val="30D158"/>
                </a:solidFill>
              </a:defRPr>
            </a:pPr>
            <a:r>
              <a:t>94% Reduction</a:t>
            </a:r>
          </a:p>
          <a:p>
            <a:pPr>
              <a:defRPr sz="1500">
                <a:solidFill>
                  <a:srgbClr val="86868B"/>
                </a:solidFill>
              </a:defRPr>
            </a:pPr>
            <a:r>
              <a:t>Search time cut from 30s → 2s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457200" wrap="square"/>
          <a:lstStyle/>
          <a:p>
            <a:pPr algn="ctr">
              <a:spcAft>
                <a:spcPts val="1400"/>
              </a:spcAft>
              <a:defRPr sz="2800" b="1">
                <a:solidFill>
                  <a:srgbClr val="30D158"/>
                </a:solidFill>
              </a:defRPr>
            </a:pPr>
            <a:r>
              <a:t>100% Native</a:t>
            </a:r>
          </a:p>
          <a:p>
            <a:pPr>
              <a:defRPr sz="1500">
                <a:solidFill>
                  <a:srgbClr val="86868B"/>
                </a:solidFill>
              </a:defRPr>
            </a:pPr>
            <a:r>
              <a:t>Zero dependencies, fully accessible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05 PILOT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What analysts are saying.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2000"/>
              </a:spcAft>
              <a:defRPr sz="1400" i="1">
                <a:solidFill>
                  <a:srgbClr val="FFFFFF"/>
                </a:solidFill>
              </a:defRPr>
            </a:pPr>
            <a:r>
              <a:t>"Saved me at least 15 minutes of tab-hunting every day. Indispensable for high-volume research."</a:t>
            </a:r>
          </a:p>
          <a:p>
            <a:pPr>
              <a:defRPr sz="1400" b="1">
                <a:solidFill>
                  <a:srgbClr val="2997FF"/>
                </a:solidFill>
              </a:defRPr>
            </a:pPr>
            <a:r>
              <a:t>Senior Data Analyst</a:t>
            </a:r>
          </a:p>
          <a:p>
            <a:pPr>
              <a:defRPr sz="1200">
                <a:solidFill>
                  <a:srgbClr val="86868B"/>
                </a:solidFill>
              </a:defRPr>
            </a:pPr>
            <a:r>
              <a:t>Media Research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2000"/>
              </a:spcAft>
              <a:defRPr sz="1400" i="1">
                <a:solidFill>
                  <a:srgbClr val="FFFFFF"/>
                </a:solidFill>
              </a:defRPr>
            </a:pPr>
            <a:r>
              <a:t>"VoiceOver navigation is flawless. First tool that treats accessibility as a core feature."</a:t>
            </a:r>
          </a:p>
          <a:p>
            <a:pPr>
              <a:defRPr sz="1400" b="1">
                <a:solidFill>
                  <a:srgbClr val="2997FF"/>
                </a:solidFill>
              </a:defRPr>
            </a:pPr>
            <a:r>
              <a:t>Accessibility Specialist</a:t>
            </a:r>
          </a:p>
          <a:p>
            <a:pPr>
              <a:defRPr sz="1200">
                <a:solidFill>
                  <a:srgbClr val="86868B"/>
                </a:solidFill>
              </a:defRPr>
            </a:pPr>
            <a:r>
              <a:t>Product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011680"/>
            <a:ext cx="338328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 wrap="square"/>
          <a:lstStyle/>
          <a:p>
            <a:pPr algn="ctr">
              <a:spcAft>
                <a:spcPts val="2000"/>
              </a:spcAft>
              <a:defRPr sz="1400" i="1">
                <a:solidFill>
                  <a:srgbClr val="FFFFFF"/>
                </a:solidFill>
              </a:defRPr>
            </a:pPr>
            <a:r>
              <a:t>"Sanitizing URL parameters automatically saved our team from broken enterprise tool links."</a:t>
            </a:r>
          </a:p>
          <a:p>
            <a:pPr>
              <a:defRPr sz="1400" b="1">
                <a:solidFill>
                  <a:srgbClr val="2997FF"/>
                </a:solidFill>
              </a:defRPr>
            </a:pPr>
            <a:r>
              <a:t>Operations Lead</a:t>
            </a:r>
          </a:p>
          <a:p>
            <a:pPr>
              <a:defRPr sz="1200">
                <a:solidFill>
                  <a:srgbClr val="86868B"/>
                </a:solidFill>
              </a:defRPr>
            </a:pPr>
            <a:r>
              <a:t>Workflow Engineering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Fluid. Inclusive. Native. Universal.</a:t>
            </a:r>
          </a:p>
          <a:p>
            <a:pPr>
              <a:spcBef>
                <a:spcPts val="1600"/>
              </a:spcBef>
              <a:defRPr sz="2200">
                <a:solidFill>
                  <a:srgbClr val="2997FF"/>
                </a:solidFill>
              </a:defRPr>
            </a:pPr>
            <a:r>
              <a:t>Ready for immediate deployment across analyst workstations.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97FF"/>
                </a:solidFill>
                <a:latin typeface="Arial"/>
              </a:defRPr>
            </a:pPr>
            <a:r>
              <a:t>RELEASES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Select Your 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438912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457200" wrap="square"/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v1.1 (Latest Release)</a:t>
            </a:r>
          </a:p>
          <a:p>
            <a:pPr>
              <a:defRPr sz="1600">
                <a:solidFill>
                  <a:srgbClr val="2997FF"/>
                </a:solidFill>
              </a:defRPr>
            </a:pPr>
            <a:r>
              <a:t>With Auto-Updater</a:t>
            </a:r>
          </a:p>
          <a:p>
            <a:pPr>
              <a:spcBef>
                <a:spcPts val="1400"/>
              </a:spcBef>
              <a:defRPr sz="1400">
                <a:solidFill>
                  <a:srgbClr val="86868B"/>
                </a:solidFill>
              </a:defRPr>
            </a:pPr>
            <a:r>
              <a:t>Silent background update checks, link sanitizer, and PID tracking.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011680"/>
            <a:ext cx="4389120" cy="3840480"/>
          </a:xfrm>
          <a:prstGeom prst="roundRect">
            <a:avLst/>
          </a:prstGeom>
          <a:solidFill>
            <a:srgbClr val="11111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457200" wrap="square"/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v1.0 (Stable Release)</a:t>
            </a:r>
          </a:p>
          <a:p>
            <a:pPr>
              <a:defRPr sz="1600">
                <a:solidFill>
                  <a:srgbClr val="2997FF"/>
                </a:solidFill>
              </a:defRPr>
            </a:pPr>
            <a:r>
              <a:t>Safe &amp; Production Ready</a:t>
            </a:r>
          </a:p>
          <a:p>
            <a:pPr>
              <a:spcBef>
                <a:spcPts val="1400"/>
              </a:spcBef>
              <a:defRPr sz="1400">
                <a:solidFill>
                  <a:srgbClr val="86868B"/>
                </a:solidFill>
              </a:defRPr>
            </a:pPr>
            <a:r>
              <a:t>Original Omni Search native experience with manual updates.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